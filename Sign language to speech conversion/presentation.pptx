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73425" y="1936749"/>
            <a:ext cx="2768600" cy="701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31765" y="1552983"/>
            <a:ext cx="3787140" cy="451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9297" y="277113"/>
            <a:ext cx="5380355" cy="92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553336"/>
            <a:ext cx="8014970" cy="434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1244" y="2277110"/>
            <a:ext cx="7004050" cy="136842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03225" marR="5080" indent="-391160">
              <a:lnSpc>
                <a:spcPts val="5260"/>
              </a:lnSpc>
              <a:spcBef>
                <a:spcPts val="250"/>
              </a:spcBef>
            </a:pPr>
            <a:r>
              <a:rPr b="1" dirty="0">
                <a:solidFill>
                  <a:srgbClr val="1F487C"/>
                </a:solidFill>
                <a:latin typeface="Times New Roman"/>
                <a:cs typeface="Times New Roman"/>
              </a:rPr>
              <a:t>FINGER</a:t>
            </a:r>
            <a:r>
              <a:rPr b="1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1F487C"/>
                </a:solidFill>
                <a:latin typeface="Times New Roman"/>
                <a:cs typeface="Times New Roman"/>
              </a:rPr>
              <a:t>MOVEMENTS</a:t>
            </a:r>
            <a:r>
              <a:rPr b="1" spc="-27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1F487C"/>
                </a:solidFill>
                <a:latin typeface="Times New Roman"/>
                <a:cs typeface="Times New Roman"/>
              </a:rPr>
              <a:t>TO </a:t>
            </a:r>
            <a:r>
              <a:rPr b="1" dirty="0">
                <a:solidFill>
                  <a:srgbClr val="1F487C"/>
                </a:solidFill>
                <a:latin typeface="Times New Roman"/>
                <a:cs typeface="Times New Roman"/>
              </a:rPr>
              <a:t>SPEECH</a:t>
            </a:r>
            <a:r>
              <a:rPr b="1" spc="-17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1255" y="4030704"/>
            <a:ext cx="3857625" cy="1634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Times New Roman"/>
                <a:cs typeface="Times New Roman"/>
              </a:rPr>
              <a:t>Presented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By</a:t>
            </a:r>
            <a:endParaRPr sz="2100">
              <a:latin typeface="Times New Roman"/>
              <a:cs typeface="Times New Roman"/>
            </a:endParaRPr>
          </a:p>
          <a:p>
            <a:pPr marR="13970" algn="r">
              <a:lnSpc>
                <a:spcPct val="100000"/>
              </a:lnSpc>
              <a:spcBef>
                <a:spcPts val="35"/>
              </a:spcBef>
            </a:pPr>
            <a:r>
              <a:rPr sz="2100" b="1" spc="-50" dirty="0">
                <a:latin typeface="Times New Roman"/>
                <a:cs typeface="Times New Roman"/>
              </a:rPr>
              <a:t>P.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Meghana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22R21A12A7</a:t>
            </a:r>
            <a:endParaRPr sz="2100">
              <a:latin typeface="Times New Roman"/>
              <a:cs typeface="Times New Roman"/>
            </a:endParaRPr>
          </a:p>
          <a:p>
            <a:pPr marR="13970" algn="r">
              <a:lnSpc>
                <a:spcPts val="2500"/>
              </a:lnSpc>
              <a:spcBef>
                <a:spcPts val="30"/>
              </a:spcBef>
            </a:pPr>
            <a:r>
              <a:rPr sz="2100" b="1" spc="-50" dirty="0">
                <a:latin typeface="Times New Roman"/>
                <a:cs typeface="Times New Roman"/>
              </a:rPr>
              <a:t>P.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Sri</a:t>
            </a:r>
            <a:r>
              <a:rPr sz="2100" b="1" spc="-114" dirty="0">
                <a:latin typeface="Times New Roman"/>
                <a:cs typeface="Times New Roman"/>
              </a:rPr>
              <a:t> </a:t>
            </a:r>
            <a:r>
              <a:rPr sz="2100" b="1" spc="-25" dirty="0">
                <a:latin typeface="Times New Roman"/>
                <a:cs typeface="Times New Roman"/>
              </a:rPr>
              <a:t>Vani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22R21A12A8</a:t>
            </a:r>
            <a:endParaRPr sz="2100">
              <a:latin typeface="Times New Roman"/>
              <a:cs typeface="Times New Roman"/>
            </a:endParaRPr>
          </a:p>
          <a:p>
            <a:pPr marR="14604" algn="r">
              <a:lnSpc>
                <a:spcPts val="2500"/>
              </a:lnSpc>
            </a:pPr>
            <a:r>
              <a:rPr sz="2100" b="1" dirty="0">
                <a:latin typeface="Times New Roman"/>
                <a:cs typeface="Times New Roman"/>
              </a:rPr>
              <a:t>R.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Ramya</a:t>
            </a:r>
            <a:r>
              <a:rPr sz="2100" b="1" spc="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22R21A12B8</a:t>
            </a:r>
            <a:endParaRPr sz="2100">
              <a:latin typeface="Times New Roman"/>
              <a:cs typeface="Times New Roman"/>
            </a:endParaRPr>
          </a:p>
          <a:p>
            <a:pPr marR="13970" algn="r">
              <a:lnSpc>
                <a:spcPct val="100000"/>
              </a:lnSpc>
              <a:spcBef>
                <a:spcPts val="35"/>
              </a:spcBef>
            </a:pPr>
            <a:r>
              <a:rPr sz="2100" b="1" dirty="0">
                <a:latin typeface="Times New Roman"/>
                <a:cs typeface="Times New Roman"/>
              </a:rPr>
              <a:t>N.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Kumar</a:t>
            </a:r>
            <a:r>
              <a:rPr sz="2100" b="1" spc="-8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Swamy</a:t>
            </a:r>
            <a:r>
              <a:rPr sz="2100" b="1" spc="9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22R21A12A5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5" y="57150"/>
            <a:ext cx="342900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9297" y="-102782"/>
            <a:ext cx="5380355" cy="921448"/>
          </a:xfrm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28524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9297" y="737837"/>
            <a:ext cx="6736520" cy="6507551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IN" sz="3200" dirty="0">
                <a:latin typeface="Times New Roman"/>
                <a:cs typeface="Times New Roman"/>
              </a:rPr>
              <a:t>Abstract</a:t>
            </a:r>
          </a:p>
          <a:p>
            <a:pPr marL="469900" indent="-457200">
              <a:lnSpc>
                <a:spcPct val="100000"/>
              </a:lnSpc>
              <a:spcBef>
                <a:spcPts val="9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IN" sz="3200" dirty="0">
                <a:latin typeface="Times New Roman"/>
                <a:cs typeface="Times New Roman"/>
              </a:rPr>
              <a:t> Introduction</a:t>
            </a:r>
          </a:p>
          <a:p>
            <a:pPr marL="469900" indent="-457200">
              <a:lnSpc>
                <a:spcPct val="100000"/>
              </a:lnSpc>
              <a:spcBef>
                <a:spcPts val="9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IN" sz="3200" dirty="0">
                <a:latin typeface="Times New Roman"/>
                <a:cs typeface="Times New Roman"/>
              </a:rPr>
              <a:t> Problem statement 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Existing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Solutions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spc="-1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Drawbacks</a:t>
            </a:r>
            <a:r>
              <a:rPr lang="en-IN" sz="3200" spc="-10" dirty="0">
                <a:latin typeface="Times New Roman"/>
                <a:cs typeface="Times New Roman"/>
              </a:rPr>
              <a:t> 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lang="en-IN" sz="3200" spc="-120" dirty="0">
                <a:latin typeface="Times New Roman"/>
                <a:cs typeface="Times New Roman"/>
              </a:rPr>
              <a:t>System</a:t>
            </a: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spc="-120" dirty="0">
                <a:latin typeface="Times New Roman"/>
                <a:cs typeface="Times New Roman"/>
              </a:rPr>
              <a:t> Architecture diagram</a:t>
            </a: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spc="-120" dirty="0">
                <a:latin typeface="Times New Roman"/>
                <a:cs typeface="Times New Roman"/>
              </a:rPr>
              <a:t> Conclusion </a:t>
            </a: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spc="-120" dirty="0">
                <a:latin typeface="Times New Roman"/>
                <a:cs typeface="Times New Roman"/>
              </a:rPr>
              <a:t> Future scope </a:t>
            </a: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3200" spc="-120" dirty="0">
                <a:latin typeface="Times New Roman"/>
                <a:cs typeface="Times New Roman"/>
              </a:rPr>
              <a:t>References 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5600" algn="l"/>
              </a:tabLst>
            </a:pP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3792" y="322897"/>
            <a:ext cx="207327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/>
              <a:t>Abstract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14655" y="1166431"/>
            <a:ext cx="7470775" cy="446468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55600" marR="165735" indent="-343535">
              <a:lnSpc>
                <a:spcPct val="102400"/>
              </a:lnSpc>
              <a:spcBef>
                <a:spcPts val="45"/>
              </a:spcBef>
              <a:buFont typeface="Arial MT"/>
              <a:buChar char="•"/>
              <a:tabLst>
                <a:tab pos="355600" algn="l"/>
              </a:tabLst>
            </a:pP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hand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gestures</a:t>
            </a:r>
            <a:r>
              <a:rPr sz="2750" spc="2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are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one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typical</a:t>
            </a:r>
            <a:r>
              <a:rPr sz="2750" spc="30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methods </a:t>
            </a:r>
            <a:r>
              <a:rPr sz="2750" dirty="0">
                <a:latin typeface="Times New Roman"/>
                <a:cs typeface="Times New Roman"/>
              </a:rPr>
              <a:t>used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sign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language.</a:t>
            </a:r>
            <a:endParaRPr sz="275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1600"/>
              </a:lnSpc>
              <a:spcBef>
                <a:spcPts val="705"/>
              </a:spcBef>
              <a:buFont typeface="Arial MT"/>
              <a:buChar char="•"/>
              <a:tabLst>
                <a:tab pos="355600" algn="l"/>
              </a:tabLst>
            </a:pPr>
            <a:r>
              <a:rPr sz="2750" dirty="0">
                <a:latin typeface="Times New Roman"/>
                <a:cs typeface="Times New Roman"/>
              </a:rPr>
              <a:t>This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project</a:t>
            </a:r>
            <a:r>
              <a:rPr sz="2750" spc="1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presents</a:t>
            </a:r>
            <a:r>
              <a:rPr sz="2750" spc="1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solution</a:t>
            </a:r>
            <a:r>
              <a:rPr sz="2750" spc="2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that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will</a:t>
            </a:r>
            <a:r>
              <a:rPr sz="2750" spc="1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not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only </a:t>
            </a:r>
            <a:r>
              <a:rPr sz="2750" dirty="0">
                <a:latin typeface="Times New Roman"/>
                <a:cs typeface="Times New Roman"/>
              </a:rPr>
              <a:t>automatically</a:t>
            </a:r>
            <a:r>
              <a:rPr sz="2750" spc="24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recognize</a:t>
            </a:r>
            <a:r>
              <a:rPr sz="2750" spc="2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hand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gestures</a:t>
            </a:r>
            <a:r>
              <a:rPr sz="2750" spc="10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but</a:t>
            </a:r>
            <a:r>
              <a:rPr sz="2750" spc="-20" dirty="0">
                <a:latin typeface="Times New Roman"/>
                <a:cs typeface="Times New Roman"/>
              </a:rPr>
              <a:t> will </a:t>
            </a:r>
            <a:r>
              <a:rPr sz="2750" dirty="0">
                <a:latin typeface="Times New Roman"/>
                <a:cs typeface="Times New Roman"/>
              </a:rPr>
              <a:t>also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convert</a:t>
            </a:r>
            <a:r>
              <a:rPr sz="2750" spc="9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it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into</a:t>
            </a:r>
            <a:r>
              <a:rPr sz="2750" spc="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speech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that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impaired</a:t>
            </a:r>
            <a:r>
              <a:rPr sz="2750" spc="21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person </a:t>
            </a:r>
            <a:r>
              <a:rPr sz="2750" dirty="0">
                <a:latin typeface="Times New Roman"/>
                <a:cs typeface="Times New Roman"/>
              </a:rPr>
              <a:t>can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easily</a:t>
            </a:r>
            <a:r>
              <a:rPr sz="2750" spc="1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communicate</a:t>
            </a:r>
            <a:r>
              <a:rPr sz="2750" spc="1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with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normal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people.</a:t>
            </a:r>
            <a:endParaRPr sz="2750" dirty="0">
              <a:latin typeface="Times New Roman"/>
              <a:cs typeface="Times New Roman"/>
            </a:endParaRPr>
          </a:p>
          <a:p>
            <a:pPr marL="355600" marR="92075" indent="-343535">
              <a:lnSpc>
                <a:spcPct val="101600"/>
              </a:lnSpc>
              <a:spcBef>
                <a:spcPts val="705"/>
              </a:spcBef>
              <a:buFont typeface="Arial MT"/>
              <a:buChar char="•"/>
              <a:tabLst>
                <a:tab pos="355600" algn="l"/>
                <a:tab pos="2003425" algn="l"/>
              </a:tabLst>
            </a:pP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9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flex</a:t>
            </a:r>
            <a:r>
              <a:rPr sz="2750" spc="1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sensors</a:t>
            </a:r>
            <a:r>
              <a:rPr sz="2750" spc="1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attached</a:t>
            </a:r>
            <a:r>
              <a:rPr sz="2750" spc="1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-1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Arduino</a:t>
            </a:r>
            <a:r>
              <a:rPr sz="2750" spc="2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Nano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will </a:t>
            </a:r>
            <a:r>
              <a:rPr sz="2750" dirty="0">
                <a:latin typeface="Times New Roman"/>
                <a:cs typeface="Times New Roman"/>
              </a:rPr>
              <a:t>capture</a:t>
            </a:r>
            <a:r>
              <a:rPr sz="2750" spc="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movements</a:t>
            </a:r>
            <a:r>
              <a:rPr sz="2750" spc="1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hand.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Based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on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the </a:t>
            </a:r>
            <a:r>
              <a:rPr sz="2750" spc="-10" dirty="0">
                <a:latin typeface="Times New Roman"/>
                <a:cs typeface="Times New Roman"/>
              </a:rPr>
              <a:t>recognized</a:t>
            </a:r>
            <a:r>
              <a:rPr sz="2750" dirty="0">
                <a:latin typeface="Times New Roman"/>
                <a:cs typeface="Times New Roman"/>
              </a:rPr>
              <a:t>	gestures,</a:t>
            </a:r>
            <a:r>
              <a:rPr sz="2750" spc="1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</a:t>
            </a:r>
            <a:r>
              <a:rPr sz="2750" spc="-1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recorded</a:t>
            </a:r>
            <a:r>
              <a:rPr sz="2750" spc="2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soundtrack</a:t>
            </a:r>
            <a:r>
              <a:rPr sz="2750" spc="14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will </a:t>
            </a:r>
            <a:r>
              <a:rPr sz="2750" dirty="0">
                <a:latin typeface="Times New Roman"/>
                <a:cs typeface="Times New Roman"/>
              </a:rPr>
              <a:t>be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played.</a:t>
            </a: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065" y="1232280"/>
            <a:ext cx="4436745" cy="48082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93700" marR="17780" indent="-343535">
              <a:lnSpc>
                <a:spcPct val="101699"/>
              </a:lnSpc>
              <a:spcBef>
                <a:spcPts val="70"/>
              </a:spcBef>
              <a:buChar char="•"/>
              <a:tabLst>
                <a:tab pos="393700" algn="l"/>
                <a:tab pos="479425" algn="l"/>
                <a:tab pos="2691765" algn="l"/>
                <a:tab pos="2770505" algn="l"/>
              </a:tabLst>
            </a:pPr>
            <a:r>
              <a:rPr sz="2750" dirty="0">
                <a:latin typeface="Arial MT"/>
                <a:cs typeface="Arial MT"/>
              </a:rPr>
              <a:t>	</a:t>
            </a:r>
            <a:r>
              <a:rPr sz="2750" spc="-50" dirty="0">
                <a:latin typeface="Times New Roman"/>
                <a:cs typeface="Times New Roman"/>
              </a:rPr>
              <a:t>Half-</a:t>
            </a:r>
            <a:r>
              <a:rPr sz="2750" dirty="0">
                <a:latin typeface="Times New Roman"/>
                <a:cs typeface="Times New Roman"/>
              </a:rPr>
              <a:t>paralyzed</a:t>
            </a:r>
            <a:r>
              <a:rPr sz="2750" spc="2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people</a:t>
            </a:r>
            <a:r>
              <a:rPr sz="2750" spc="28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face </a:t>
            </a:r>
            <a:r>
              <a:rPr sz="2750" dirty="0">
                <a:latin typeface="Times New Roman"/>
                <a:cs typeface="Times New Roman"/>
              </a:rPr>
              <a:t>serious</a:t>
            </a:r>
            <a:r>
              <a:rPr sz="2750" spc="10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problem</a:t>
            </a:r>
            <a:r>
              <a:rPr sz="2750" dirty="0">
                <a:latin typeface="Times New Roman"/>
                <a:cs typeface="Times New Roman"/>
              </a:rPr>
              <a:t>		</a:t>
            </a:r>
            <a:r>
              <a:rPr sz="2750" spc="-25" dirty="0">
                <a:latin typeface="Times New Roman"/>
                <a:cs typeface="Times New Roman"/>
              </a:rPr>
              <a:t>in </a:t>
            </a:r>
            <a:r>
              <a:rPr sz="2750" spc="-10" dirty="0">
                <a:latin typeface="Times New Roman"/>
                <a:cs typeface="Times New Roman"/>
              </a:rPr>
              <a:t>communication</a:t>
            </a:r>
            <a:r>
              <a:rPr sz="2750" dirty="0">
                <a:latin typeface="Times New Roman"/>
                <a:cs typeface="Times New Roman"/>
              </a:rPr>
              <a:t>	with</a:t>
            </a:r>
            <a:r>
              <a:rPr sz="2750" spc="11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normal </a:t>
            </a:r>
            <a:r>
              <a:rPr sz="2750" dirty="0">
                <a:latin typeface="Times New Roman"/>
                <a:cs typeface="Times New Roman"/>
              </a:rPr>
              <a:t>people</a:t>
            </a:r>
            <a:r>
              <a:rPr sz="2750" spc="1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</a:t>
            </a:r>
            <a:r>
              <a:rPr sz="2750" spc="-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their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society.</a:t>
            </a:r>
            <a:endParaRPr sz="2750">
              <a:latin typeface="Times New Roman"/>
              <a:cs typeface="Times New Roman"/>
            </a:endParaRPr>
          </a:p>
          <a:p>
            <a:pPr marL="393700" marR="43180" indent="-343535">
              <a:lnSpc>
                <a:spcPct val="102000"/>
              </a:lnSpc>
              <a:spcBef>
                <a:spcPts val="690"/>
              </a:spcBef>
              <a:buFont typeface="Arial MT"/>
              <a:buChar char="•"/>
              <a:tabLst>
                <a:tab pos="393700" algn="l"/>
              </a:tabLst>
            </a:pPr>
            <a:r>
              <a:rPr sz="2750" dirty="0">
                <a:latin typeface="Times New Roman"/>
                <a:cs typeface="Times New Roman"/>
              </a:rPr>
              <a:t>To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help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them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communicate </a:t>
            </a:r>
            <a:r>
              <a:rPr sz="2750" dirty="0">
                <a:latin typeface="Times New Roman"/>
                <a:cs typeface="Times New Roman"/>
              </a:rPr>
              <a:t>with</a:t>
            </a:r>
            <a:r>
              <a:rPr sz="2750" spc="10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normal</a:t>
            </a:r>
            <a:r>
              <a:rPr sz="2750" spc="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people</a:t>
            </a:r>
            <a:r>
              <a:rPr sz="2750" spc="17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for</a:t>
            </a:r>
            <a:r>
              <a:rPr sz="2750" spc="5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their </a:t>
            </a:r>
            <a:r>
              <a:rPr sz="2750" dirty="0">
                <a:latin typeface="Times New Roman"/>
                <a:cs typeface="Times New Roman"/>
              </a:rPr>
              <a:t>basic</a:t>
            </a:r>
            <a:r>
              <a:rPr sz="2750" spc="2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needs</a:t>
            </a:r>
            <a:r>
              <a:rPr sz="2750" spc="8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we thought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of </a:t>
            </a:r>
            <a:r>
              <a:rPr sz="2750" dirty="0">
                <a:latin typeface="Times New Roman"/>
                <a:cs typeface="Times New Roman"/>
              </a:rPr>
              <a:t>creating</a:t>
            </a:r>
            <a:r>
              <a:rPr sz="2750" spc="1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something</a:t>
            </a:r>
            <a:r>
              <a:rPr sz="2750" spc="15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which </a:t>
            </a:r>
            <a:r>
              <a:rPr sz="2750" dirty="0">
                <a:latin typeface="Times New Roman"/>
                <a:cs typeface="Times New Roman"/>
              </a:rPr>
              <a:t>will</a:t>
            </a:r>
            <a:r>
              <a:rPr sz="2750" spc="1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help</a:t>
            </a:r>
            <a:r>
              <a:rPr sz="2750" spc="1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them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without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spc="-25" dirty="0">
                <a:latin typeface="Times New Roman"/>
                <a:cs typeface="Times New Roman"/>
              </a:rPr>
              <a:t>the </a:t>
            </a:r>
            <a:r>
              <a:rPr sz="2750" spc="-1005" dirty="0">
                <a:latin typeface="Times New Roman"/>
                <a:cs typeface="Times New Roman"/>
              </a:rPr>
              <a:t>n</a:t>
            </a:r>
            <a:r>
              <a:rPr sz="2700" spc="22" baseline="-23148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1342" baseline="-23148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50" spc="-40" dirty="0">
                <a:latin typeface="Times New Roman"/>
                <a:cs typeface="Times New Roman"/>
              </a:rPr>
              <a:t>ee</a:t>
            </a:r>
            <a:r>
              <a:rPr sz="2750" spc="-5" dirty="0">
                <a:latin typeface="Times New Roman"/>
                <a:cs typeface="Times New Roman"/>
              </a:rPr>
              <a:t>d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of</a:t>
            </a:r>
            <a:r>
              <a:rPr sz="2750" spc="-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</a:t>
            </a:r>
            <a:r>
              <a:rPr sz="2750" spc="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third</a:t>
            </a:r>
            <a:r>
              <a:rPr sz="2750" spc="1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person</a:t>
            </a:r>
            <a:r>
              <a:rPr sz="2750" spc="2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as</a:t>
            </a:r>
            <a:r>
              <a:rPr sz="2750" spc="5" dirty="0">
                <a:latin typeface="Times New Roman"/>
                <a:cs typeface="Times New Roman"/>
              </a:rPr>
              <a:t> </a:t>
            </a:r>
            <a:r>
              <a:rPr sz="2750" spc="-50" dirty="0">
                <a:latin typeface="Times New Roman"/>
                <a:cs typeface="Times New Roman"/>
              </a:rPr>
              <a:t>a </a:t>
            </a:r>
            <a:r>
              <a:rPr sz="2750" spc="-10" dirty="0">
                <a:latin typeface="Times New Roman"/>
                <a:cs typeface="Times New Roman"/>
              </a:rPr>
              <a:t>translator.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1876425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5E27-0E90-37FA-5066-EB6691B3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03" y="453808"/>
            <a:ext cx="5380355" cy="677108"/>
          </a:xfrm>
        </p:spPr>
        <p:txBody>
          <a:bodyPr/>
          <a:lstStyle/>
          <a:p>
            <a:r>
              <a:rPr lang="en-IN" dirty="0"/>
              <a:t>Problem Statement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B9DBC-E3A2-8246-C8B5-4FB5D22B3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401" y="1438484"/>
            <a:ext cx="8014970" cy="3323987"/>
          </a:xfrm>
        </p:spPr>
        <p:txBody>
          <a:bodyPr/>
          <a:lstStyle/>
          <a:p>
            <a:r>
              <a:rPr lang="en-IN" dirty="0"/>
              <a:t>The objective of this project is to provide a tool to </a:t>
            </a:r>
          </a:p>
          <a:p>
            <a:r>
              <a:rPr lang="en-IN" dirty="0"/>
              <a:t>
aid the speech impaired ,half paralyzed retrieving the features of </a:t>
            </a:r>
          </a:p>
          <a:p>
            <a:r>
              <a:rPr lang="en-IN" dirty="0"/>
              <a:t>
the hand. This proposal has been developed using </a:t>
            </a:r>
          </a:p>
          <a:p>
            <a:r>
              <a:rPr lang="en-IN" dirty="0"/>
              <a:t>
</a:t>
            </a:r>
            <a:r>
              <a:rPr lang="en-IN" dirty="0" err="1"/>
              <a:t>Iot</a:t>
            </a:r>
            <a:r>
              <a:rPr lang="en-IN" dirty="0"/>
              <a:t> with properly designed and user-friendly </a:t>
            </a:r>
          </a:p>
          <a:p>
            <a:r>
              <a:rPr lang="en-IN" dirty="0"/>
              <a:t>
interface.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674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Drawbacks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165" y="1232280"/>
            <a:ext cx="7808595" cy="30626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55600" marR="561340" indent="-343535">
              <a:lnSpc>
                <a:spcPct val="102600"/>
              </a:lnSpc>
              <a:spcBef>
                <a:spcPts val="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cultures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varying </a:t>
            </a:r>
            <a:r>
              <a:rPr sz="2400" dirty="0">
                <a:latin typeface="Times New Roman"/>
                <a:cs typeface="Times New Roman"/>
              </a:rPr>
              <a:t>interpretations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finger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movements,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misunderstandings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misinterpretations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diverse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8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Finger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movements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degree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expressive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freedom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speech,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limited </a:t>
            </a:r>
            <a:r>
              <a:rPr sz="2400" dirty="0">
                <a:latin typeface="Times New Roman"/>
                <a:cs typeface="Times New Roman"/>
              </a:rPr>
              <a:t>vocabulary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capabilities.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Users </a:t>
            </a:r>
            <a:r>
              <a:rPr sz="2400" dirty="0">
                <a:latin typeface="Times New Roman"/>
                <a:cs typeface="Times New Roman"/>
              </a:rPr>
              <a:t>may </a:t>
            </a:r>
            <a:r>
              <a:rPr sz="2400" spc="-10" dirty="0">
                <a:latin typeface="Times New Roman"/>
                <a:cs typeface="Times New Roman"/>
              </a:rPr>
              <a:t>struggle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complex.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2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Existing</a:t>
            </a:r>
            <a:r>
              <a:rPr spc="-140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087" y="998329"/>
            <a:ext cx="7303383" cy="155670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355600" algn="l"/>
              </a:tabLst>
            </a:pPr>
            <a:endParaRPr sz="24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2630"/>
              </a:lnSpc>
              <a:spcBef>
                <a:spcPts val="57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NEURPROSTHE </a:t>
            </a:r>
            <a:r>
              <a:rPr sz="2400" spc="-25" dirty="0">
                <a:latin typeface="Times New Roman"/>
                <a:cs typeface="Times New Roman"/>
              </a:rPr>
              <a:t>SIS</a:t>
            </a:r>
            <a:endParaRPr sz="2400" dirty="0">
              <a:latin typeface="Times New Roman"/>
              <a:cs typeface="Times New Roman"/>
            </a:endParaRPr>
          </a:p>
          <a:p>
            <a:pPr marL="355600" marR="66675" indent="-343535">
              <a:lnSpc>
                <a:spcPct val="896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important technological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milestone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person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cannot communicate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naturally.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530087" y="2427626"/>
            <a:ext cx="7226852" cy="321818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355600" algn="l"/>
              </a:tabLst>
            </a:pPr>
            <a:endParaRPr spc="-50" dirty="0"/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5600" algn="l"/>
              </a:tabLst>
            </a:pPr>
            <a:r>
              <a:rPr spc="-10" dirty="0"/>
              <a:t>MYOPRO</a:t>
            </a:r>
          </a:p>
          <a:p>
            <a:pPr marL="356235" marR="457200" indent="-343535">
              <a:lnSpc>
                <a:spcPct val="90000"/>
              </a:lnSpc>
              <a:spcBef>
                <a:spcPts val="640"/>
              </a:spcBef>
              <a:buFont typeface="Arial MT"/>
              <a:buChar char="•"/>
              <a:tabLst>
                <a:tab pos="356235" algn="l"/>
                <a:tab pos="2501265" algn="l"/>
              </a:tabLst>
            </a:pPr>
            <a:r>
              <a:rPr dirty="0"/>
              <a:t>It</a:t>
            </a:r>
            <a:r>
              <a:rPr spc="-75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powered</a:t>
            </a:r>
            <a:r>
              <a:rPr spc="-5" dirty="0"/>
              <a:t> </a:t>
            </a:r>
            <a:r>
              <a:rPr dirty="0"/>
              <a:t>arm </a:t>
            </a:r>
            <a:r>
              <a:rPr spc="-25" dirty="0"/>
              <a:t>and </a:t>
            </a:r>
            <a:r>
              <a:rPr dirty="0"/>
              <a:t>hand</a:t>
            </a:r>
            <a:r>
              <a:rPr spc="-45" dirty="0"/>
              <a:t> </a:t>
            </a:r>
            <a:r>
              <a:rPr dirty="0"/>
              <a:t>orthosis</a:t>
            </a:r>
            <a:r>
              <a:rPr spc="-60" dirty="0"/>
              <a:t> </a:t>
            </a:r>
            <a:r>
              <a:rPr spc="-10" dirty="0"/>
              <a:t>(brace) designed</a:t>
            </a:r>
            <a:r>
              <a:rPr spc="145" dirty="0"/>
              <a:t> </a:t>
            </a:r>
            <a:r>
              <a:rPr dirty="0"/>
              <a:t>to</a:t>
            </a:r>
            <a:r>
              <a:rPr spc="-145" dirty="0"/>
              <a:t> </a:t>
            </a:r>
            <a:r>
              <a:rPr spc="-20" dirty="0"/>
              <a:t>help</a:t>
            </a:r>
            <a:r>
              <a:rPr dirty="0"/>
              <a:t>	</a:t>
            </a:r>
            <a:r>
              <a:rPr spc="-20" dirty="0"/>
              <a:t>restore </a:t>
            </a:r>
            <a:r>
              <a:rPr dirty="0"/>
              <a:t>function</a:t>
            </a:r>
            <a:r>
              <a:rPr spc="2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wearer's </a:t>
            </a:r>
            <a:r>
              <a:rPr dirty="0"/>
              <a:t>paralyzed</a:t>
            </a:r>
            <a:r>
              <a:rPr spc="-70" dirty="0"/>
              <a:t> </a:t>
            </a:r>
            <a:r>
              <a:rPr spc="-25" dirty="0"/>
              <a:t>or</a:t>
            </a:r>
          </a:p>
          <a:p>
            <a:pPr marL="356235">
              <a:lnSpc>
                <a:spcPts val="2425"/>
              </a:lnSpc>
            </a:pPr>
            <a:r>
              <a:rPr dirty="0"/>
              <a:t>weakened upper</a:t>
            </a:r>
            <a:r>
              <a:rPr spc="-45" dirty="0"/>
              <a:t> </a:t>
            </a:r>
            <a:r>
              <a:rPr spc="-10" dirty="0"/>
              <a:t>extremities</a:t>
            </a:r>
          </a:p>
          <a:p>
            <a:pPr marL="356235">
              <a:lnSpc>
                <a:spcPts val="2590"/>
              </a:lnSpc>
            </a:pPr>
            <a:r>
              <a:rPr spc="-10" dirty="0"/>
              <a:t>,helping</a:t>
            </a:r>
          </a:p>
          <a:p>
            <a:pPr marL="356235" marR="5080">
              <a:lnSpc>
                <a:spcPct val="89500"/>
              </a:lnSpc>
              <a:spcBef>
                <a:spcPts val="140"/>
              </a:spcBef>
              <a:tabLst>
                <a:tab pos="1861820" algn="l"/>
              </a:tabLst>
            </a:pPr>
            <a:r>
              <a:rPr spc="-10" dirty="0"/>
              <a:t>individuals</a:t>
            </a:r>
            <a:r>
              <a:rPr dirty="0"/>
              <a:t>	perform</a:t>
            </a:r>
            <a:r>
              <a:rPr spc="-15" dirty="0"/>
              <a:t> </a:t>
            </a:r>
            <a:r>
              <a:rPr spc="-20" dirty="0"/>
              <a:t>actions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daily</a:t>
            </a:r>
            <a:r>
              <a:rPr spc="-65" dirty="0"/>
              <a:t> </a:t>
            </a:r>
            <a:r>
              <a:rPr dirty="0"/>
              <a:t>activities</a:t>
            </a:r>
            <a:r>
              <a:rPr spc="-30" dirty="0"/>
              <a:t> </a:t>
            </a:r>
            <a:r>
              <a:rPr spc="-20" dirty="0"/>
              <a:t>that </a:t>
            </a:r>
            <a:r>
              <a:rPr spc="-10" dirty="0"/>
              <a:t>might </a:t>
            </a:r>
            <a:r>
              <a:rPr dirty="0"/>
              <a:t>otherwise</a:t>
            </a:r>
            <a:r>
              <a:rPr spc="-25" dirty="0"/>
              <a:t> be </a:t>
            </a:r>
            <a:r>
              <a:rPr spc="-10" dirty="0"/>
              <a:t>impossible.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39" rIns="0" bIns="0" rtlCol="0">
            <a:spAutoFit/>
          </a:bodyPr>
          <a:lstStyle/>
          <a:p>
            <a:pPr marL="793115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-1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212" y="1321117"/>
            <a:ext cx="8221345" cy="229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Our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Flex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sensors,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Arduino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Nano,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Mini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Speaker.</a:t>
            </a:r>
            <a:endParaRPr sz="2400">
              <a:latin typeface="Times New Roman"/>
              <a:cs typeface="Times New Roman"/>
            </a:endParaRPr>
          </a:p>
          <a:p>
            <a:pPr marL="355600" marR="167005" indent="-343535">
              <a:lnSpc>
                <a:spcPct val="1008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25" dirty="0">
                <a:latin typeface="Times New Roman"/>
                <a:cs typeface="Times New Roman"/>
              </a:rPr>
              <a:t>A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flex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sensor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sensor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sensor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measures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amount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deflection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bending.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Usually,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sensor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stuck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surface,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resistance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sensor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bending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surface.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918" rIns="0" bIns="0" rtlCol="0">
            <a:spAutoFit/>
          </a:bodyPr>
          <a:lstStyle/>
          <a:p>
            <a:pPr marL="42164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Architecture-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889698" y="1704325"/>
            <a:ext cx="3113405" cy="1061658"/>
          </a:xfrm>
          <a:custGeom>
            <a:avLst/>
            <a:gdLst/>
            <a:ahLst/>
            <a:cxnLst/>
            <a:rect l="l" t="t" r="r" b="b"/>
            <a:pathLst>
              <a:path w="3113404">
                <a:moveTo>
                  <a:pt x="0" y="0"/>
                </a:moveTo>
                <a:lnTo>
                  <a:pt x="3113368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88053" y="1607184"/>
            <a:ext cx="8318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0635" y="1721484"/>
            <a:ext cx="2082164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onsolas"/>
                <a:cs typeface="Consolas"/>
              </a:rPr>
              <a:t>Finger</a:t>
            </a:r>
            <a:r>
              <a:rPr sz="800" spc="-7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Movements to</a:t>
            </a:r>
            <a:r>
              <a:rPr sz="800" spc="-7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Speech </a:t>
            </a:r>
            <a:r>
              <a:rPr sz="800" spc="-10" dirty="0">
                <a:latin typeface="Consolas"/>
                <a:cs typeface="Consolas"/>
              </a:rPr>
              <a:t>Conversion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 rot="21192073">
            <a:off x="388904" y="1900224"/>
            <a:ext cx="2935402" cy="385431"/>
          </a:xfrm>
          <a:custGeom>
            <a:avLst/>
            <a:gdLst/>
            <a:ahLst/>
            <a:cxnLst/>
            <a:rect l="l" t="t" r="r" b="b"/>
            <a:pathLst>
              <a:path w="3113404">
                <a:moveTo>
                  <a:pt x="0" y="0"/>
                </a:moveTo>
                <a:lnTo>
                  <a:pt x="3113368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11575" y="1721484"/>
            <a:ext cx="83185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6942" y="1969198"/>
            <a:ext cx="83185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50" dirty="0">
                <a:latin typeface="Consolas"/>
                <a:cs typeface="Consolas"/>
              </a:rPr>
              <a:t>v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5080" y="1969007"/>
            <a:ext cx="83185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50" dirty="0">
                <a:latin typeface="Consolas"/>
                <a:cs typeface="Consolas"/>
              </a:rPr>
              <a:t>v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4189" y="1969198"/>
            <a:ext cx="83185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50" dirty="0">
                <a:latin typeface="Consolas"/>
                <a:cs typeface="Consolas"/>
              </a:rPr>
              <a:t>v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6575" y="2331973"/>
            <a:ext cx="8318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6425" y="2421578"/>
            <a:ext cx="733425" cy="0"/>
          </a:xfrm>
          <a:custGeom>
            <a:avLst/>
            <a:gdLst/>
            <a:ahLst/>
            <a:cxnLst/>
            <a:rect l="l" t="t" r="r" b="b"/>
            <a:pathLst>
              <a:path w="733425">
                <a:moveTo>
                  <a:pt x="0" y="0"/>
                </a:moveTo>
                <a:lnTo>
                  <a:pt x="733404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8260" y="2331973"/>
            <a:ext cx="3124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1300" algn="l"/>
              </a:tabLst>
            </a:pPr>
            <a:r>
              <a:rPr sz="800" spc="-50" dirty="0">
                <a:latin typeface="Consolas"/>
                <a:cs typeface="Consolas"/>
              </a:rPr>
              <a:t>+</a:t>
            </a:r>
            <a:r>
              <a:rPr sz="800" dirty="0">
                <a:latin typeface="Consolas"/>
                <a:cs typeface="Consolas"/>
              </a:rPr>
              <a:t>	</a:t>
            </a: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17091" y="2421578"/>
            <a:ext cx="829310" cy="0"/>
          </a:xfrm>
          <a:custGeom>
            <a:avLst/>
            <a:gdLst/>
            <a:ahLst/>
            <a:cxnLst/>
            <a:rect l="l" t="t" r="r" b="b"/>
            <a:pathLst>
              <a:path w="829310">
                <a:moveTo>
                  <a:pt x="0" y="0"/>
                </a:moveTo>
                <a:lnTo>
                  <a:pt x="828749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66110" y="2421578"/>
            <a:ext cx="1009650" cy="0"/>
          </a:xfrm>
          <a:custGeom>
            <a:avLst/>
            <a:gdLst/>
            <a:ahLst/>
            <a:cxnLst/>
            <a:rect l="l" t="t" r="r" b="b"/>
            <a:pathLst>
              <a:path w="1009650">
                <a:moveTo>
                  <a:pt x="0" y="0"/>
                </a:moveTo>
                <a:lnTo>
                  <a:pt x="1009486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54425" y="2331973"/>
            <a:ext cx="8318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 flipV="1">
            <a:off x="1318260" y="2186946"/>
            <a:ext cx="3408349" cy="26853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 dirty="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6575" y="2703512"/>
            <a:ext cx="86423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2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Acquisition</a:t>
            </a:r>
            <a:r>
              <a:rPr sz="800" spc="-65" dirty="0">
                <a:latin typeface="Consolas"/>
                <a:cs typeface="Consolas"/>
              </a:rPr>
              <a:t> </a:t>
            </a:r>
            <a:r>
              <a:rPr sz="800" spc="-50" dirty="0">
                <a:latin typeface="Consolas"/>
                <a:cs typeface="Consolas"/>
              </a:rPr>
              <a:t>|</a:t>
            </a:r>
            <a:endParaRPr sz="800" dirty="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6575" y="2827909"/>
            <a:ext cx="864869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93750" algn="l"/>
              </a:tabLst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1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Module</a:t>
            </a:r>
            <a:r>
              <a:rPr sz="800" dirty="0">
                <a:latin typeface="Consolas"/>
                <a:cs typeface="Consolas"/>
              </a:rPr>
              <a:t>	</a:t>
            </a: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4391" y="2455481"/>
            <a:ext cx="749935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-6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Processing</a:t>
            </a:r>
            <a:endParaRPr sz="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-7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(e.g., </a:t>
            </a:r>
            <a:r>
              <a:rPr sz="800" spc="-20" dirty="0">
                <a:latin typeface="Consolas"/>
                <a:cs typeface="Consolas"/>
              </a:rPr>
              <a:t>IMU)</a:t>
            </a:r>
            <a:endParaRPr sz="800" dirty="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10560" y="3314446"/>
            <a:ext cx="114173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onsolas"/>
                <a:cs typeface="Consolas"/>
              </a:rPr>
              <a:t>+---</a:t>
            </a:r>
            <a:r>
              <a:rPr sz="800" spc="-75" dirty="0">
                <a:latin typeface="Consolas"/>
                <a:cs typeface="Consolas"/>
              </a:rPr>
              <a:t>-</a:t>
            </a:r>
            <a:r>
              <a:rPr sz="800" dirty="0">
                <a:latin typeface="Consolas"/>
                <a:cs typeface="Consolas"/>
              </a:rPr>
              <a:t>-----</a:t>
            </a:r>
            <a:r>
              <a:rPr sz="800" spc="-75" dirty="0">
                <a:latin typeface="Consolas"/>
                <a:cs typeface="Consolas"/>
              </a:rPr>
              <a:t>-</a:t>
            </a:r>
            <a:r>
              <a:rPr sz="800" dirty="0">
                <a:latin typeface="Consolas"/>
                <a:cs typeface="Consolas"/>
              </a:rPr>
              <a:t>-----</a:t>
            </a:r>
            <a:r>
              <a:rPr sz="800" spc="-75" dirty="0">
                <a:latin typeface="Consolas"/>
                <a:cs typeface="Consolas"/>
              </a:rPr>
              <a:t>-</a:t>
            </a:r>
            <a:r>
              <a:rPr sz="800" dirty="0">
                <a:latin typeface="Consolas"/>
                <a:cs typeface="Consolas"/>
              </a:rPr>
              <a:t>--</a:t>
            </a: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6425" y="3527791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4">
                <a:moveTo>
                  <a:pt x="0" y="0"/>
                </a:moveTo>
                <a:lnTo>
                  <a:pt x="734260" y="0"/>
                </a:lnTo>
              </a:path>
            </a:pathLst>
          </a:custGeom>
          <a:ln w="8407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36575" y="3437953"/>
            <a:ext cx="864869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93750" algn="l"/>
              </a:tabLst>
            </a:pPr>
            <a:r>
              <a:rPr sz="800" spc="-50" dirty="0">
                <a:latin typeface="Consolas"/>
                <a:cs typeface="Consolas"/>
              </a:rPr>
              <a:t>+</a:t>
            </a:r>
            <a:r>
              <a:rPr sz="800" dirty="0">
                <a:latin typeface="Consolas"/>
                <a:cs typeface="Consolas"/>
              </a:rPr>
              <a:t>	</a:t>
            </a: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64716" y="3527791"/>
            <a:ext cx="843915" cy="0"/>
          </a:xfrm>
          <a:custGeom>
            <a:avLst/>
            <a:gdLst/>
            <a:ahLst/>
            <a:cxnLst/>
            <a:rect l="l" t="t" r="r" b="b"/>
            <a:pathLst>
              <a:path w="843914">
                <a:moveTo>
                  <a:pt x="0" y="0"/>
                </a:moveTo>
                <a:lnTo>
                  <a:pt x="843451" y="0"/>
                </a:lnTo>
              </a:path>
            </a:pathLst>
          </a:custGeom>
          <a:ln w="8407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604391" y="3437953"/>
            <a:ext cx="9702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9160" algn="l"/>
              </a:tabLst>
            </a:pPr>
            <a:r>
              <a:rPr sz="800" spc="-50" dirty="0">
                <a:latin typeface="Consolas"/>
                <a:cs typeface="Consolas"/>
              </a:rPr>
              <a:t>+</a:t>
            </a:r>
            <a:r>
              <a:rPr sz="800" dirty="0">
                <a:latin typeface="Consolas"/>
                <a:cs typeface="Consolas"/>
              </a:rPr>
              <a:t>	</a:t>
            </a: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6575" y="3801237"/>
            <a:ext cx="86423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1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and</a:t>
            </a:r>
            <a:r>
              <a:rPr sz="800" spc="1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Feature</a:t>
            </a:r>
            <a:r>
              <a:rPr sz="800" spc="-65" dirty="0">
                <a:latin typeface="Consolas"/>
                <a:cs typeface="Consolas"/>
              </a:rPr>
              <a:t> </a:t>
            </a: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4391" y="4048442"/>
            <a:ext cx="9702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35" dirty="0">
                <a:latin typeface="Consolas"/>
                <a:cs typeface="Consolas"/>
              </a:rPr>
              <a:t>+-</a:t>
            </a:r>
            <a:r>
              <a:rPr sz="800" dirty="0">
                <a:latin typeface="Consolas"/>
                <a:cs typeface="Consolas"/>
              </a:rPr>
              <a:t>----</a:t>
            </a:r>
            <a:r>
              <a:rPr sz="800" spc="-75" dirty="0">
                <a:latin typeface="Consolas"/>
                <a:cs typeface="Consolas"/>
              </a:rPr>
              <a:t>-</a:t>
            </a:r>
            <a:r>
              <a:rPr sz="800" dirty="0">
                <a:latin typeface="Consolas"/>
                <a:cs typeface="Consolas"/>
              </a:rPr>
              <a:t>-----</a:t>
            </a:r>
            <a:r>
              <a:rPr sz="800" spc="-75" dirty="0">
                <a:latin typeface="Consolas"/>
                <a:cs typeface="Consolas"/>
              </a:rPr>
              <a:t>-</a:t>
            </a:r>
            <a:r>
              <a:rPr sz="800" dirty="0">
                <a:latin typeface="Consolas"/>
                <a:cs typeface="Consolas"/>
              </a:rPr>
              <a:t>--</a:t>
            </a:r>
            <a:r>
              <a:rPr sz="800" spc="-30" dirty="0">
                <a:latin typeface="Consolas"/>
                <a:cs typeface="Consolas"/>
              </a:rPr>
              <a:t>-</a:t>
            </a:r>
            <a:r>
              <a:rPr sz="800" spc="-50" dirty="0">
                <a:latin typeface="Consolas"/>
                <a:cs typeface="Consolas"/>
              </a:rPr>
              <a:t>+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6425" y="4253045"/>
            <a:ext cx="733425" cy="0"/>
          </a:xfrm>
          <a:custGeom>
            <a:avLst/>
            <a:gdLst/>
            <a:ahLst/>
            <a:cxnLst/>
            <a:rect l="l" t="t" r="r" b="b"/>
            <a:pathLst>
              <a:path w="733425">
                <a:moveTo>
                  <a:pt x="0" y="0"/>
                </a:moveTo>
                <a:lnTo>
                  <a:pt x="733404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36575" y="3924934"/>
            <a:ext cx="864869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10" dirty="0">
                <a:latin typeface="Consolas"/>
                <a:cs typeface="Consolas"/>
              </a:rPr>
              <a:t> </a:t>
            </a:r>
            <a:r>
              <a:rPr lang="en-IN" sz="800" dirty="0" err="1">
                <a:latin typeface="Consolas"/>
                <a:cs typeface="Consolas"/>
              </a:rPr>
              <a:t>Extractionp</a:t>
            </a:r>
            <a:r>
              <a:rPr sz="800" spc="395" dirty="0">
                <a:latin typeface="Consolas"/>
                <a:cs typeface="Consolas"/>
              </a:rPr>
              <a:t> </a:t>
            </a:r>
            <a:r>
              <a:rPr sz="800" spc="-50" dirty="0">
                <a:latin typeface="Consolas"/>
                <a:cs typeface="Consolas"/>
              </a:rPr>
              <a:t>|</a:t>
            </a:r>
            <a:endParaRPr sz="800" dirty="0">
              <a:latin typeface="Consolas"/>
              <a:cs typeface="Consolas"/>
            </a:endParaRPr>
          </a:p>
          <a:p>
            <a:pPr marL="12700">
              <a:lnSpc>
                <a:spcPts val="930"/>
              </a:lnSpc>
              <a:spcBef>
                <a:spcPts val="15"/>
              </a:spcBef>
              <a:tabLst>
                <a:tab pos="793750" algn="l"/>
              </a:tabLst>
            </a:pPr>
            <a:r>
              <a:rPr sz="800" dirty="0">
                <a:latin typeface="Consolas"/>
                <a:cs typeface="Consolas"/>
              </a:rPr>
              <a:t>|</a:t>
            </a:r>
            <a:r>
              <a:rPr sz="800" spc="1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Module</a:t>
            </a:r>
            <a:r>
              <a:rPr sz="800" dirty="0">
                <a:latin typeface="Consolas"/>
                <a:cs typeface="Consolas"/>
              </a:rPr>
              <a:t>	</a:t>
            </a:r>
            <a:r>
              <a:rPr sz="800" spc="-50" dirty="0">
                <a:latin typeface="Consolas"/>
                <a:cs typeface="Consolas"/>
              </a:rPr>
              <a:t>|</a:t>
            </a:r>
            <a:endParaRPr sz="800" dirty="0">
              <a:latin typeface="Consolas"/>
              <a:cs typeface="Consolas"/>
            </a:endParaRPr>
          </a:p>
          <a:p>
            <a:pPr marL="12700">
              <a:lnSpc>
                <a:spcPts val="930"/>
              </a:lnSpc>
              <a:tabLst>
                <a:tab pos="793750" algn="l"/>
              </a:tabLst>
            </a:pPr>
            <a:r>
              <a:rPr sz="800" spc="-50" dirty="0">
                <a:latin typeface="Consolas"/>
                <a:cs typeface="Consolas"/>
              </a:rPr>
              <a:t>+</a:t>
            </a:r>
            <a:r>
              <a:rPr sz="800" dirty="0">
                <a:latin typeface="Consolas"/>
                <a:cs typeface="Consolas"/>
              </a:rPr>
              <a:t>	</a:t>
            </a:r>
            <a:r>
              <a:rPr sz="800" spc="-50" dirty="0">
                <a:latin typeface="Consolas"/>
                <a:cs typeface="Consolas"/>
              </a:rPr>
              <a:t>+</a:t>
            </a:r>
            <a:endParaRPr sz="800" dirty="0">
              <a:latin typeface="Consolas"/>
              <a:cs typeface="Consola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6942" y="4286821"/>
            <a:ext cx="83185" cy="276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latin typeface="Consolas"/>
                <a:cs typeface="Consolas"/>
              </a:rPr>
              <a:t>|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spc="-50" dirty="0">
                <a:latin typeface="Consolas"/>
                <a:cs typeface="Consolas"/>
              </a:rPr>
              <a:t>v</a:t>
            </a:r>
            <a:endParaRPr sz="800">
              <a:latin typeface="Consolas"/>
              <a:cs typeface="Consolas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50698"/>
              </p:ext>
            </p:extLst>
          </p:nvPr>
        </p:nvGraphicFramePr>
        <p:xfrm>
          <a:off x="536575" y="4563046"/>
          <a:ext cx="960120" cy="714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31750">
                        <a:lnSpc>
                          <a:spcPts val="775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775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45">
                <a:tc>
                  <a:txBody>
                    <a:bodyPr/>
                    <a:lstStyle/>
                    <a:p>
                      <a:pPr marL="31750">
                        <a:lnSpc>
                          <a:spcPts val="835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835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L="31750">
                        <a:lnSpc>
                          <a:spcPts val="810"/>
                        </a:lnSpc>
                      </a:pPr>
                      <a:endParaRPr sz="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810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31750">
                        <a:lnSpc>
                          <a:spcPts val="850"/>
                        </a:lnSpc>
                      </a:pPr>
                      <a:endParaRPr sz="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850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31750">
                        <a:lnSpc>
                          <a:spcPts val="850"/>
                        </a:lnSpc>
                      </a:pPr>
                      <a:endParaRPr sz="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850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31750">
                        <a:lnSpc>
                          <a:spcPts val="800"/>
                        </a:lnSpc>
                      </a:pP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800"/>
                        </a:lnSpc>
                      </a:pPr>
                      <a:endParaRPr sz="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606425" y="4624690"/>
            <a:ext cx="782320" cy="0"/>
          </a:xfrm>
          <a:custGeom>
            <a:avLst/>
            <a:gdLst/>
            <a:ahLst/>
            <a:cxnLst/>
            <a:rect l="l" t="t" r="r" b="b"/>
            <a:pathLst>
              <a:path w="782319">
                <a:moveTo>
                  <a:pt x="0" y="0"/>
                </a:moveTo>
                <a:lnTo>
                  <a:pt x="781867" y="0"/>
                </a:lnTo>
              </a:path>
            </a:pathLst>
          </a:custGeom>
          <a:ln w="8407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6425" y="5235263"/>
            <a:ext cx="781685" cy="0"/>
          </a:xfrm>
          <a:custGeom>
            <a:avLst/>
            <a:gdLst/>
            <a:ahLst/>
            <a:cxnLst/>
            <a:rect l="l" t="t" r="r" b="b"/>
            <a:pathLst>
              <a:path w="781685">
                <a:moveTo>
                  <a:pt x="0" y="0"/>
                </a:moveTo>
                <a:lnTo>
                  <a:pt x="781077" y="0"/>
                </a:lnTo>
              </a:path>
            </a:pathLst>
          </a:custGeom>
          <a:ln w="838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8773-B98D-306D-7669-A347E816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97" y="277113"/>
            <a:ext cx="5380355" cy="677108"/>
          </a:xfrm>
        </p:spPr>
        <p:txBody>
          <a:bodyPr/>
          <a:lstStyle/>
          <a:p>
            <a:r>
              <a:rPr lang="en-IN" dirty="0"/>
              <a:t>Architecture- Diagram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629DA7-DECA-4B41-D120-F5F7C1A33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4" y="1455190"/>
            <a:ext cx="6752794" cy="42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3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252" rIns="0" bIns="0" rtlCol="0">
            <a:spAutoFit/>
          </a:bodyPr>
          <a:lstStyle/>
          <a:p>
            <a:pPr marL="9912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25599"/>
            <a:ext cx="7943850" cy="2958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2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emphasizes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impaired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people </a:t>
            </a:r>
            <a:r>
              <a:rPr sz="2400" dirty="0">
                <a:latin typeface="Times New Roman"/>
                <a:cs typeface="Times New Roman"/>
              </a:rPr>
              <a:t>having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disability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miscommunication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focuses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gesture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recognition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communication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speech </a:t>
            </a:r>
            <a:r>
              <a:rPr sz="2400" dirty="0">
                <a:latin typeface="Times New Roman"/>
                <a:cs typeface="Times New Roman"/>
              </a:rPr>
              <a:t>impaired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communicate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gestures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gestures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understood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speech </a:t>
            </a:r>
            <a:r>
              <a:rPr sz="2400" spc="-10" dirty="0">
                <a:latin typeface="Times New Roman"/>
                <a:cs typeface="Times New Roman"/>
              </a:rPr>
              <a:t>impaired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understood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comes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 </a:t>
            </a:r>
            <a:r>
              <a:rPr sz="2400" spc="-10" dirty="0">
                <a:latin typeface="Times New Roman"/>
                <a:cs typeface="Times New Roman"/>
              </a:rPr>
              <a:t>picture.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39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-8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587499"/>
            <a:ext cx="7964170" cy="44938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5080" indent="-343535">
              <a:lnSpc>
                <a:spcPct val="90400"/>
              </a:lnSpc>
              <a:spcBef>
                <a:spcPts val="3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integrated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IoT </a:t>
            </a:r>
            <a:r>
              <a:rPr sz="2400" dirty="0">
                <a:latin typeface="Times New Roman"/>
                <a:cs typeface="Times New Roman"/>
              </a:rPr>
              <a:t>devices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more </a:t>
            </a:r>
            <a:r>
              <a:rPr sz="2400" dirty="0">
                <a:latin typeface="Times New Roman"/>
                <a:cs typeface="Times New Roman"/>
              </a:rPr>
              <a:t>robust.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accuracy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further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improvised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networks.</a:t>
            </a:r>
            <a:endParaRPr sz="2400">
              <a:latin typeface="Times New Roman"/>
              <a:cs typeface="Times New Roman"/>
            </a:endParaRPr>
          </a:p>
          <a:p>
            <a:pPr marL="355600" marR="106680" indent="-343535">
              <a:lnSpc>
                <a:spcPct val="90000"/>
              </a:lnSpc>
              <a:spcBef>
                <a:spcPts val="560"/>
              </a:spcBef>
              <a:buChar char="•"/>
              <a:tabLst>
                <a:tab pos="355600" algn="l"/>
                <a:tab pos="412750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alternate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stress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medicines,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military,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governance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genuine </a:t>
            </a:r>
            <a:r>
              <a:rPr sz="2400" dirty="0">
                <a:latin typeface="Times New Roman"/>
                <a:cs typeface="Times New Roman"/>
              </a:rPr>
              <a:t>blend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 </a:t>
            </a:r>
            <a:r>
              <a:rPr sz="2400" spc="-10" dirty="0">
                <a:latin typeface="Times New Roman"/>
                <a:cs typeface="Times New Roman"/>
              </a:rPr>
              <a:t>technologies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mentioned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make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community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around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  <a:p>
            <a:pPr marL="355600" marR="322580" indent="-343535">
              <a:lnSpc>
                <a:spcPct val="90400"/>
              </a:lnSpc>
              <a:spcBef>
                <a:spcPts val="550"/>
              </a:spcBef>
              <a:buChar char="•"/>
              <a:tabLst>
                <a:tab pos="355600" algn="l"/>
                <a:tab pos="431800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Finally,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further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designed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more </a:t>
            </a:r>
            <a:r>
              <a:rPr sz="2400" spc="-10" dirty="0">
                <a:latin typeface="Times New Roman"/>
                <a:cs typeface="Times New Roman"/>
              </a:rPr>
              <a:t>accessible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consumers.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solution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commercially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impaired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community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around 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world.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867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1.</a:t>
            </a:r>
            <a:r>
              <a:rPr spc="-114" dirty="0"/>
              <a:t> </a:t>
            </a:r>
            <a:r>
              <a:rPr dirty="0"/>
              <a:t>M.</a:t>
            </a:r>
            <a:r>
              <a:rPr spc="-80" dirty="0"/>
              <a:t> </a:t>
            </a:r>
            <a:r>
              <a:rPr dirty="0"/>
              <a:t>Oudah,</a:t>
            </a:r>
            <a:r>
              <a:rPr spc="-20" dirty="0"/>
              <a:t> </a:t>
            </a:r>
            <a:r>
              <a:rPr spc="-35" dirty="0"/>
              <a:t>A.</a:t>
            </a:r>
            <a:r>
              <a:rPr spc="-114" dirty="0"/>
              <a:t> </a:t>
            </a:r>
            <a:r>
              <a:rPr dirty="0"/>
              <a:t>A.</a:t>
            </a:r>
            <a:r>
              <a:rPr spc="45" dirty="0"/>
              <a:t> </a:t>
            </a:r>
            <a:r>
              <a:rPr dirty="0"/>
              <a:t>Naji,</a:t>
            </a:r>
            <a:r>
              <a:rPr spc="-80" dirty="0"/>
              <a:t> </a:t>
            </a:r>
            <a:r>
              <a:rPr dirty="0"/>
              <a:t>Javaan</a:t>
            </a:r>
            <a:r>
              <a:rPr spc="-20" dirty="0"/>
              <a:t> </a:t>
            </a:r>
            <a:r>
              <a:rPr dirty="0"/>
              <a:t>Chah,</a:t>
            </a:r>
            <a:r>
              <a:rPr spc="50" dirty="0"/>
              <a:t> </a:t>
            </a:r>
            <a:r>
              <a:rPr dirty="0"/>
              <a:t>J.</a:t>
            </a:r>
            <a:r>
              <a:rPr spc="-80" dirty="0"/>
              <a:t> </a:t>
            </a:r>
            <a:r>
              <a:rPr spc="-10" dirty="0"/>
              <a:t>Imaging.</a:t>
            </a:r>
            <a:r>
              <a:rPr spc="175" dirty="0"/>
              <a:t> </a:t>
            </a:r>
            <a:r>
              <a:rPr dirty="0"/>
              <a:t>6,</a:t>
            </a:r>
            <a:r>
              <a:rPr spc="-80" dirty="0"/>
              <a:t> </a:t>
            </a:r>
            <a:r>
              <a:rPr dirty="0"/>
              <a:t>8,</a:t>
            </a:r>
            <a:r>
              <a:rPr spc="-80" dirty="0"/>
              <a:t> </a:t>
            </a:r>
            <a:r>
              <a:rPr spc="-10" dirty="0"/>
              <a:t>(2020)</a:t>
            </a:r>
          </a:p>
          <a:p>
            <a:pPr marL="355600" marR="150495" indent="-343535">
              <a:lnSpc>
                <a:spcPct val="100400"/>
              </a:lnSpc>
              <a:spcBef>
                <a:spcPts val="560"/>
              </a:spcBef>
              <a:buChar char="•"/>
              <a:tabLst>
                <a:tab pos="355600" algn="l"/>
                <a:tab pos="431800" algn="l"/>
              </a:tabLst>
            </a:pPr>
            <a:r>
              <a:rPr dirty="0">
                <a:latin typeface="Arial MT"/>
                <a:cs typeface="Arial MT"/>
              </a:rPr>
              <a:t>	</a:t>
            </a:r>
            <a:r>
              <a:rPr dirty="0"/>
              <a:t>2.</a:t>
            </a:r>
            <a:r>
              <a:rPr spc="-105" dirty="0"/>
              <a:t> </a:t>
            </a:r>
            <a:r>
              <a:rPr dirty="0"/>
              <a:t>X.</a:t>
            </a:r>
            <a:r>
              <a:rPr spc="-95" dirty="0"/>
              <a:t> </a:t>
            </a:r>
            <a:r>
              <a:rPr dirty="0"/>
              <a:t>Ji,</a:t>
            </a:r>
            <a:r>
              <a:rPr spc="-150" dirty="0"/>
              <a:t> </a:t>
            </a:r>
            <a:r>
              <a:rPr dirty="0"/>
              <a:t>Z.</a:t>
            </a:r>
            <a:r>
              <a:rPr spc="-95" dirty="0"/>
              <a:t> </a:t>
            </a:r>
            <a:r>
              <a:rPr spc="-40" dirty="0"/>
              <a:t>Wang</a:t>
            </a:r>
            <a:r>
              <a:rPr spc="8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X.</a:t>
            </a:r>
            <a:r>
              <a:rPr spc="-35" dirty="0"/>
              <a:t> </a:t>
            </a:r>
            <a:r>
              <a:rPr dirty="0"/>
              <a:t>Zhang,</a:t>
            </a:r>
            <a:r>
              <a:rPr spc="90" dirty="0"/>
              <a:t> </a:t>
            </a:r>
            <a:r>
              <a:rPr dirty="0"/>
              <a:t>Design</a:t>
            </a:r>
            <a:r>
              <a:rPr spc="9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Human</a:t>
            </a:r>
            <a:r>
              <a:rPr spc="90" dirty="0"/>
              <a:t> </a:t>
            </a:r>
            <a:r>
              <a:rPr spc="-10" dirty="0"/>
              <a:t>Machine </a:t>
            </a:r>
            <a:r>
              <a:rPr dirty="0"/>
              <a:t>Interactive</a:t>
            </a:r>
            <a:r>
              <a:rPr spc="-75" dirty="0"/>
              <a:t> </a:t>
            </a:r>
            <a:r>
              <a:rPr dirty="0"/>
              <a:t>System</a:t>
            </a:r>
            <a:r>
              <a:rPr spc="70" dirty="0"/>
              <a:t> </a:t>
            </a:r>
            <a:r>
              <a:rPr dirty="0"/>
              <a:t>based</a:t>
            </a:r>
            <a:r>
              <a:rPr spc="-55" dirty="0"/>
              <a:t> </a:t>
            </a:r>
            <a:r>
              <a:rPr dirty="0"/>
              <a:t>on</a:t>
            </a:r>
            <a:r>
              <a:rPr spc="-120" dirty="0"/>
              <a:t> </a:t>
            </a:r>
            <a:r>
              <a:rPr dirty="0"/>
              <a:t>Hand Gesture</a:t>
            </a:r>
            <a:r>
              <a:rPr spc="-10" dirty="0"/>
              <a:t> </a:t>
            </a:r>
            <a:r>
              <a:rPr dirty="0"/>
              <a:t>recognition,</a:t>
            </a:r>
            <a:r>
              <a:rPr spc="60" dirty="0"/>
              <a:t> </a:t>
            </a:r>
            <a:r>
              <a:rPr dirty="0"/>
              <a:t>in</a:t>
            </a:r>
            <a:r>
              <a:rPr spc="-114" dirty="0"/>
              <a:t> </a:t>
            </a:r>
            <a:r>
              <a:rPr spc="-25" dirty="0"/>
              <a:t>the </a:t>
            </a:r>
            <a:r>
              <a:rPr dirty="0"/>
              <a:t>Proceedings</a:t>
            </a:r>
            <a:r>
              <a:rPr spc="-3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6th</a:t>
            </a:r>
            <a:r>
              <a:rPr spc="-114" dirty="0"/>
              <a:t> </a:t>
            </a:r>
            <a:r>
              <a:rPr dirty="0"/>
              <a:t>International</a:t>
            </a:r>
            <a:r>
              <a:rPr spc="10" dirty="0"/>
              <a:t> </a:t>
            </a:r>
            <a:r>
              <a:rPr dirty="0"/>
              <a:t>Conference</a:t>
            </a:r>
            <a:r>
              <a:rPr spc="45" dirty="0"/>
              <a:t> </a:t>
            </a:r>
            <a:r>
              <a:rPr spc="-25" dirty="0"/>
              <a:t>on </a:t>
            </a:r>
            <a:r>
              <a:rPr dirty="0"/>
              <a:t>Information</a:t>
            </a:r>
            <a:r>
              <a:rPr spc="50" dirty="0"/>
              <a:t> </a:t>
            </a:r>
            <a:r>
              <a:rPr dirty="0"/>
              <a:t>Science</a:t>
            </a:r>
            <a:r>
              <a:rPr spc="-8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Control</a:t>
            </a:r>
            <a:r>
              <a:rPr spc="-65" dirty="0"/>
              <a:t> </a:t>
            </a:r>
            <a:r>
              <a:rPr spc="-10" dirty="0"/>
              <a:t>Engineering</a:t>
            </a:r>
            <a:r>
              <a:rPr spc="55" dirty="0"/>
              <a:t> </a:t>
            </a:r>
            <a:r>
              <a:rPr spc="-10" dirty="0"/>
              <a:t>(ICISCE2019), (2019)</a:t>
            </a:r>
          </a:p>
          <a:p>
            <a:pPr marL="431800" indent="-419100">
              <a:lnSpc>
                <a:spcPts val="2865"/>
              </a:lnSpc>
              <a:spcBef>
                <a:spcPts val="575"/>
              </a:spcBef>
              <a:buFont typeface="Arial MT"/>
              <a:buChar char="•"/>
              <a:tabLst>
                <a:tab pos="431800" algn="l"/>
              </a:tabLst>
            </a:pPr>
            <a:r>
              <a:rPr dirty="0"/>
              <a:t>3.</a:t>
            </a:r>
            <a:r>
              <a:rPr spc="-90" dirty="0"/>
              <a:t> </a:t>
            </a:r>
            <a:r>
              <a:rPr spc="-150" dirty="0"/>
              <a:t>P.</a:t>
            </a:r>
            <a:r>
              <a:rPr spc="-5" dirty="0"/>
              <a:t> </a:t>
            </a:r>
            <a:r>
              <a:rPr spc="-10" dirty="0"/>
              <a:t>Sonwalker,</a:t>
            </a:r>
            <a:r>
              <a:rPr spc="-40" dirty="0"/>
              <a:t> T.</a:t>
            </a:r>
            <a:r>
              <a:rPr spc="-45" dirty="0"/>
              <a:t> </a:t>
            </a:r>
            <a:r>
              <a:rPr dirty="0"/>
              <a:t>Sakhare,</a:t>
            </a:r>
            <a:r>
              <a:rPr spc="-45" dirty="0"/>
              <a:t> </a:t>
            </a:r>
            <a:r>
              <a:rPr dirty="0"/>
              <a:t>A.</a:t>
            </a:r>
            <a:r>
              <a:rPr spc="30" dirty="0"/>
              <a:t> </a:t>
            </a:r>
            <a:r>
              <a:rPr dirty="0"/>
              <a:t>Patil,</a:t>
            </a:r>
            <a:r>
              <a:rPr spc="-114" dirty="0"/>
              <a:t> </a:t>
            </a:r>
            <a:r>
              <a:rPr dirty="0"/>
              <a:t>S.</a:t>
            </a:r>
            <a:r>
              <a:rPr spc="-45" dirty="0"/>
              <a:t> </a:t>
            </a:r>
            <a:r>
              <a:rPr dirty="0"/>
              <a:t>Kale,</a:t>
            </a:r>
            <a:r>
              <a:rPr spc="30" dirty="0"/>
              <a:t> </a:t>
            </a:r>
            <a:r>
              <a:rPr dirty="0"/>
              <a:t>Int.</a:t>
            </a:r>
            <a:r>
              <a:rPr spc="25" dirty="0"/>
              <a:t> </a:t>
            </a:r>
            <a:r>
              <a:rPr dirty="0"/>
              <a:t>J.</a:t>
            </a:r>
            <a:r>
              <a:rPr spc="-114" dirty="0"/>
              <a:t> </a:t>
            </a:r>
            <a:r>
              <a:rPr dirty="0"/>
              <a:t>of</a:t>
            </a:r>
            <a:r>
              <a:rPr spc="-20" dirty="0"/>
              <a:t> Eng.</a:t>
            </a:r>
          </a:p>
          <a:p>
            <a:pPr marL="355600">
              <a:lnSpc>
                <a:spcPts val="2865"/>
              </a:lnSpc>
            </a:pPr>
            <a:r>
              <a:rPr dirty="0"/>
              <a:t>Tren.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25" dirty="0"/>
              <a:t>Tech.</a:t>
            </a:r>
            <a:r>
              <a:rPr spc="-35" dirty="0"/>
              <a:t> </a:t>
            </a:r>
            <a:r>
              <a:rPr dirty="0"/>
              <a:t>6,</a:t>
            </a:r>
            <a:r>
              <a:rPr spc="-95" dirty="0"/>
              <a:t> </a:t>
            </a:r>
            <a:r>
              <a:rPr dirty="0"/>
              <a:t>9,</a:t>
            </a:r>
            <a:r>
              <a:rPr spc="-90" dirty="0"/>
              <a:t> </a:t>
            </a:r>
            <a:r>
              <a:rPr spc="-10" dirty="0"/>
              <a:t>(2019)</a:t>
            </a:r>
          </a:p>
          <a:p>
            <a:pPr marL="355600" marR="24130" indent="-343535">
              <a:lnSpc>
                <a:spcPct val="100400"/>
              </a:lnSpc>
              <a:spcBef>
                <a:spcPts val="56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4.</a:t>
            </a:r>
            <a:r>
              <a:rPr spc="-150" dirty="0"/>
              <a:t> </a:t>
            </a:r>
            <a:r>
              <a:rPr dirty="0"/>
              <a:t>M.</a:t>
            </a:r>
            <a:r>
              <a:rPr spc="-150" dirty="0"/>
              <a:t> </a:t>
            </a:r>
            <a:r>
              <a:rPr spc="-10" dirty="0"/>
              <a:t>Alsheakhali,</a:t>
            </a:r>
            <a:r>
              <a:rPr spc="114" dirty="0"/>
              <a:t> </a:t>
            </a:r>
            <a:r>
              <a:rPr dirty="0"/>
              <a:t>Hand</a:t>
            </a:r>
            <a:r>
              <a:rPr spc="-5" dirty="0"/>
              <a:t> </a:t>
            </a:r>
            <a:r>
              <a:rPr dirty="0"/>
              <a:t>gesture</a:t>
            </a:r>
            <a:r>
              <a:rPr spc="45" dirty="0"/>
              <a:t> </a:t>
            </a:r>
            <a:r>
              <a:rPr dirty="0"/>
              <a:t>recognition </a:t>
            </a:r>
            <a:r>
              <a:rPr spc="-30" dirty="0"/>
              <a:t>system,</a:t>
            </a:r>
            <a:r>
              <a:rPr spc="175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spc="-25" dirty="0"/>
              <a:t>the </a:t>
            </a:r>
            <a:r>
              <a:rPr dirty="0"/>
              <a:t>Conference</a:t>
            </a:r>
            <a:r>
              <a:rPr spc="-60" dirty="0"/>
              <a:t> </a:t>
            </a:r>
            <a:r>
              <a:rPr dirty="0"/>
              <a:t>Proceedings</a:t>
            </a:r>
            <a:r>
              <a:rPr spc="-2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International</a:t>
            </a:r>
            <a:r>
              <a:rPr spc="-50" dirty="0"/>
              <a:t> </a:t>
            </a:r>
            <a:r>
              <a:rPr dirty="0"/>
              <a:t>Conference</a:t>
            </a:r>
            <a:r>
              <a:rPr spc="45" dirty="0"/>
              <a:t> </a:t>
            </a:r>
            <a:r>
              <a:rPr spc="-25" dirty="0"/>
              <a:t>on </a:t>
            </a:r>
            <a:r>
              <a:rPr dirty="0"/>
              <a:t>Information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Communications</a:t>
            </a:r>
            <a:r>
              <a:rPr spc="75" dirty="0"/>
              <a:t> </a:t>
            </a:r>
            <a:r>
              <a:rPr dirty="0"/>
              <a:t>Security</a:t>
            </a:r>
            <a:r>
              <a:rPr spc="-70" dirty="0"/>
              <a:t> </a:t>
            </a:r>
            <a:r>
              <a:rPr dirty="0"/>
              <a:t>(ICICS2011),</a:t>
            </a:r>
            <a:r>
              <a:rPr spc="-150" dirty="0"/>
              <a:t> </a:t>
            </a:r>
            <a:r>
              <a:rPr spc="-20" dirty="0"/>
              <a:t>2011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0000"/>
                </a:solidFill>
                <a:latin typeface="Tahoma"/>
                <a:cs typeface="Tahoma"/>
              </a:rPr>
              <a:t>Thank</a:t>
            </a:r>
            <a:r>
              <a:rPr spc="-2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pc="-520" dirty="0">
                <a:solidFill>
                  <a:srgbClr val="000000"/>
                </a:solidFill>
                <a:latin typeface="Tahoma"/>
                <a:cs typeface="Tahoma"/>
              </a:rPr>
              <a:t>Y</a:t>
            </a:r>
            <a:r>
              <a:rPr spc="40" dirty="0">
                <a:solidFill>
                  <a:srgbClr val="000000"/>
                </a:solidFill>
                <a:latin typeface="Tahoma"/>
                <a:cs typeface="Tahoma"/>
              </a:rPr>
              <a:t>o</a:t>
            </a:r>
            <a:r>
              <a:rPr spc="50" dirty="0">
                <a:solidFill>
                  <a:srgbClr val="000000"/>
                </a:solidFill>
                <a:latin typeface="Tahoma"/>
                <a:cs typeface="Tahoma"/>
              </a:rPr>
              <a:t>u</a:t>
            </a:r>
            <a:r>
              <a:rPr spc="75" dirty="0">
                <a:solidFill>
                  <a:srgbClr val="000000"/>
                </a:solidFill>
                <a:latin typeface="Tahoma"/>
                <a:cs typeface="Tahoma"/>
              </a:rPr>
              <a:t>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419" y="3272154"/>
            <a:ext cx="6651625" cy="13779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61745" marR="5080" indent="-1249045">
              <a:lnSpc>
                <a:spcPct val="100899"/>
              </a:lnSpc>
              <a:spcBef>
                <a:spcPts val="80"/>
              </a:spcBef>
            </a:pPr>
            <a:r>
              <a:rPr sz="4400" spc="70" dirty="0">
                <a:latin typeface="Tahoma"/>
                <a:cs typeface="Tahoma"/>
              </a:rPr>
              <a:t>We</a:t>
            </a:r>
            <a:r>
              <a:rPr sz="4400" spc="-229" dirty="0">
                <a:latin typeface="Tahoma"/>
                <a:cs typeface="Tahoma"/>
              </a:rPr>
              <a:t> </a:t>
            </a:r>
            <a:r>
              <a:rPr sz="4400" spc="-40" dirty="0">
                <a:latin typeface="Tahoma"/>
                <a:cs typeface="Tahoma"/>
              </a:rPr>
              <a:t>are</a:t>
            </a:r>
            <a:r>
              <a:rPr sz="4400" spc="-150" dirty="0">
                <a:latin typeface="Tahoma"/>
                <a:cs typeface="Tahoma"/>
              </a:rPr>
              <a:t> </a:t>
            </a:r>
            <a:r>
              <a:rPr sz="4400" dirty="0">
                <a:latin typeface="Tahoma"/>
                <a:cs typeface="Tahoma"/>
              </a:rPr>
              <a:t>happy</a:t>
            </a:r>
            <a:r>
              <a:rPr sz="4400" spc="-70" dirty="0">
                <a:latin typeface="Tahoma"/>
                <a:cs typeface="Tahoma"/>
              </a:rPr>
              <a:t> </a:t>
            </a:r>
            <a:r>
              <a:rPr sz="4400" spc="135" dirty="0">
                <a:latin typeface="Tahoma"/>
                <a:cs typeface="Tahoma"/>
              </a:rPr>
              <a:t>to</a:t>
            </a:r>
            <a:r>
              <a:rPr sz="4400" spc="-185" dirty="0">
                <a:latin typeface="Tahoma"/>
                <a:cs typeface="Tahoma"/>
              </a:rPr>
              <a:t> </a:t>
            </a:r>
            <a:r>
              <a:rPr sz="4400" spc="-55" dirty="0">
                <a:latin typeface="Tahoma"/>
                <a:cs typeface="Tahoma"/>
              </a:rPr>
              <a:t>hear</a:t>
            </a:r>
            <a:r>
              <a:rPr sz="4400" spc="-170" dirty="0">
                <a:latin typeface="Tahoma"/>
                <a:cs typeface="Tahoma"/>
              </a:rPr>
              <a:t> </a:t>
            </a:r>
            <a:r>
              <a:rPr sz="4400" spc="45" dirty="0">
                <a:latin typeface="Tahoma"/>
                <a:cs typeface="Tahoma"/>
              </a:rPr>
              <a:t>your </a:t>
            </a:r>
            <a:r>
              <a:rPr sz="4400" spc="-45" dirty="0">
                <a:latin typeface="Tahoma"/>
                <a:cs typeface="Tahoma"/>
              </a:rPr>
              <a:t>feedback</a:t>
            </a:r>
            <a:r>
              <a:rPr sz="4400" spc="-265" dirty="0">
                <a:latin typeface="Tahoma"/>
                <a:cs typeface="Tahoma"/>
              </a:rPr>
              <a:t> </a:t>
            </a:r>
            <a:r>
              <a:rPr sz="4400" spc="-305" dirty="0">
                <a:latin typeface="Tahoma"/>
                <a:cs typeface="Tahoma"/>
              </a:rPr>
              <a:t>as</a:t>
            </a:r>
            <a:r>
              <a:rPr sz="4400" spc="-50" dirty="0">
                <a:latin typeface="Tahoma"/>
                <a:cs typeface="Tahoma"/>
              </a:rPr>
              <a:t> </a:t>
            </a:r>
            <a:r>
              <a:rPr sz="4400" spc="45" dirty="0">
                <a:latin typeface="Tahoma"/>
                <a:cs typeface="Tahoma"/>
              </a:rPr>
              <a:t>well.</a:t>
            </a:r>
            <a:endParaRPr sz="4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FINGER MOVEMENTS TO SPEECH CONVERSION</vt:lpstr>
      <vt:lpstr>Contents</vt:lpstr>
      <vt:lpstr>Abstract</vt:lpstr>
      <vt:lpstr>Introduction</vt:lpstr>
      <vt:lpstr>Problem Statement </vt:lpstr>
      <vt:lpstr>Drawbacks</vt:lpstr>
      <vt:lpstr>Existing Solutions</vt:lpstr>
      <vt:lpstr>Proposed System</vt:lpstr>
      <vt:lpstr>Architecture-Diagram</vt:lpstr>
      <vt:lpstr>Architecture- Diagram </vt:lpstr>
      <vt:lpstr>Conclusion</vt:lpstr>
      <vt:lpstr>Future Scope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FINGER MOVEMENTS TO SPEECH CONVERSION</dc:title>
  <cp:lastModifiedBy>SRI VANI PALADI</cp:lastModifiedBy>
  <cp:revision>2</cp:revision>
  <dcterms:created xsi:type="dcterms:W3CDTF">2023-12-29T06:05:05Z</dcterms:created>
  <dcterms:modified xsi:type="dcterms:W3CDTF">2025-02-12T15:56:11Z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2023-11-30T00:00:00Z</vt:filetime>
  </property>
  <property fmtid="{D5CDD505-2E9C-101B-9397-08002B2CF9AE}" pid="3" name="LastSaved">
    <vt:filetime>2023-12-29T00:00:00Z</vt:filetime>
  </property>
</Properties>
</file>